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C892AD-8405-4D23-B959-D4A6546371C1}">
  <a:tblStyle styleId="{42C892AD-8405-4D23-B959-D4A6546371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11bd070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911bd070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0" Type="http://schemas.openxmlformats.org/officeDocument/2006/relationships/image" Target="../media/image8.png"/><Relationship Id="rId9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23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9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11" Type="http://schemas.openxmlformats.org/officeDocument/2006/relationships/image" Target="../media/image30.png"/><Relationship Id="rId10" Type="http://schemas.openxmlformats.org/officeDocument/2006/relationships/image" Target="../media/image32.png"/><Relationship Id="rId9" Type="http://schemas.openxmlformats.org/officeDocument/2006/relationships/image" Target="../media/image15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Relationship Id="rId7" Type="http://schemas.openxmlformats.org/officeDocument/2006/relationships/image" Target="../media/image36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3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7487" y="4818459"/>
            <a:ext cx="66770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90561" y="1658391"/>
            <a:ext cx="7010876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Room Management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Microservices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57487" y="3357413"/>
            <a:ext cx="6677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A Distributed Room Reservation Platform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57487" y="4008834"/>
            <a:ext cx="66770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Scala 2.13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Play Framework 2.9.1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Akka Classic 2.8.5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Kafka 3.6.1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MySQL 8.0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457700" y="5018484"/>
            <a:ext cx="15335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Presenter: [Your Name]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372225" y="5018484"/>
            <a:ext cx="1362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Date: [Current Date]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5500"/>
            <a:ext cx="5286375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95500"/>
            <a:ext cx="5286375" cy="36003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62025" y="248602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6B6B"/>
                </a:solidFill>
                <a:latin typeface="Urbanist"/>
                <a:ea typeface="Urbanist"/>
                <a:cs typeface="Urbanist"/>
                <a:sym typeface="Urbanist"/>
              </a:rPr>
              <a:t>Business Challenges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962025" y="2952750"/>
            <a:ext cx="45053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248602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Our Solution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724650" y="2952750"/>
            <a:ext cx="45053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152525" y="330517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Manual room booking processes cause inefficiency.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52525" y="367471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 automated notifications for meetings.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404425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Lack of real-time availability checking.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441379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Poor resource utilization due to no-shows.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52525" y="478333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Scalability issues with monolithic systems.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915150" y="330517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Distributed microservices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architecture.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915150" y="367471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Real-time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room availability system.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15150" y="404425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Automated notification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system.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915150" y="441379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Event-driven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communication via Kafka.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915150" y="478333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Scalable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and fault-tolerant design.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Problem Statement &amp;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6054923"/>
            <a:ext cx="5286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 Async Communication via Apache Kafka 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1555551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🏢 Room Management Service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38528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📧 Notification Service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06444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2031801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Play Framework + REST API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2401341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MySQL database integration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277088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Kafka message producer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314042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Port: 9000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432911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Akka Classic actors system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469865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Kafka message consumer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506819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Email notification processing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5437733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Standalone JAR application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1757"/>
            <a:ext cx="3492400" cy="3487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51757"/>
            <a:ext cx="3492549" cy="3487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151757"/>
            <a:ext cx="3492400" cy="3487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4703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66775" y="3256657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Backend Frameworks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244703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644925" y="3256657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&amp; Messaging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225" y="244703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423225" y="3256657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Development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61848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057275" y="3809107"/>
            <a:ext cx="2711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Play Framework 2.9.1: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RESTful API service.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57275" y="4452937"/>
            <a:ext cx="2711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Akka Classic 2.8.5: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Actor-based processing.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30663" y="261848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4835425" y="3809107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MySQL 8.0: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Persistent data storage.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835425" y="4178647"/>
            <a:ext cx="27114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Apache Kafka 3.6.1: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Event streaming.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835425" y="4822477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Slick ORM: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Database access layer.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94675" y="261848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8613725" y="3809107"/>
            <a:ext cx="2711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Docker Compose: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Local environment.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613725" y="4452937"/>
            <a:ext cx="271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SBT: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Build &amp; dependency tool.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613725" y="4822477"/>
            <a:ext cx="271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Scala 2.13: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Programming language.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Technology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5500"/>
            <a:ext cx="5286375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95500"/>
            <a:ext cx="5286375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152775"/>
            <a:ext cx="45053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962025" y="248602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REST API Endpoints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962025" y="2952750"/>
            <a:ext cx="45053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724650" y="248602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Features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6724650" y="2952750"/>
            <a:ext cx="45053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915150" y="330517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Real-time availability checking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915150" y="367471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Automated reminder processing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915150" y="404425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Auto-release for unused rooms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915150" y="441379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Kafka event publishing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915150" y="478333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Database transaction management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5150" y="33528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5150" y="372234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5150" y="409188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15150" y="446142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15150" y="483096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Room Service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093023"/>
            <a:ext cx="52863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571500" y="1412676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Akka Classic Design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333092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Processing Flow</a:t>
            </a:r>
            <a:endParaRPr/>
          </a:p>
        </p:txBody>
      </p:sp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76212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762000" y="2031801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NotificationProcessorActor: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Main logic with Props factory.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62000" y="2401341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EmailService: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SMTP integration.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62000" y="277088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KafkaConsumerService: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Message consumption.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066800" y="3949094"/>
            <a:ext cx="76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143000" y="3950047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Consume Kafka messages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019175" y="4318635"/>
            <a:ext cx="123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143000" y="4319587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Route to appropriate actors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28700" y="4688175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143000" y="4689127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Process business logic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019175" y="5057715"/>
            <a:ext cx="123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143000" y="5058667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Send email via SMTP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019175" y="5427255"/>
            <a:ext cx="123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5.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143000" y="5428208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Log administrative events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571500" y="6197798"/>
            <a:ext cx="600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Benefits: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209675" y="6197798"/>
            <a:ext cx="3495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Supervision hierarchies &amp; Props-based instantiation.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Notification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0747"/>
            <a:ext cx="11049000" cy="3200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" name="Google Shape;212;p19"/>
          <p:cNvGraphicFramePr/>
          <p:nvPr/>
        </p:nvGraphicFramePr>
        <p:xfrm>
          <a:off x="866775" y="22260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{42C892AD-8405-4D23-B959-D4A6546371C1}</a:tableStyleId>
              </a:tblPr>
              <a:tblGrid>
                <a:gridCol w="4704150"/>
                <a:gridCol w="1554075"/>
                <a:gridCol w="1707950"/>
                <a:gridCol w="2492275"/>
              </a:tblGrid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Topic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Producer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Consumer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5D6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room-preparation-notifications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Room Svc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Notify Svc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Room setup alerts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5D6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reservation-reminder-notifications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Room Svc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Notify Svc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Meeting reminders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5D6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room-release-notifications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Room Svc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Notify Svc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Auto-release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5D6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admin-notifications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Room Svc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Notify Svc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Admin events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19"/>
          <p:cNvSpPr txBox="1"/>
          <p:nvPr/>
        </p:nvSpPr>
        <p:spPr>
          <a:xfrm>
            <a:off x="571500" y="5474047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Architecture Benefits:</a:t>
            </a: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Decoupled scaling, Asynchronous processing, Event sourcing, Fault tolerance.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866775" y="2735609"/>
            <a:ext cx="4704159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570934" y="2735609"/>
            <a:ext cx="155406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7124997" y="2735609"/>
            <a:ext cx="1707951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8832949" y="2735609"/>
            <a:ext cx="249227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866775" y="3259484"/>
            <a:ext cx="470415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570934" y="3259484"/>
            <a:ext cx="155406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7124997" y="3259484"/>
            <a:ext cx="1707951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8832949" y="3259484"/>
            <a:ext cx="2492275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866775" y="3783359"/>
            <a:ext cx="470415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570934" y="3783359"/>
            <a:ext cx="155406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7124997" y="3783359"/>
            <a:ext cx="1707951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8832949" y="3783359"/>
            <a:ext cx="2492275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866775" y="4307234"/>
            <a:ext cx="470415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570934" y="4307234"/>
            <a:ext cx="155406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7124997" y="4307234"/>
            <a:ext cx="1707951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8832949" y="4307234"/>
            <a:ext cx="2492275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Event-Driven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Communication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6212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71500" y="1788914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MySQL Schema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571500" y="3621434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Flow Process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62000" y="2265164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Rooms: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Info, capacity, equipment.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62000" y="2634704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Reservations: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Booking details, status.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62000" y="3004244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Indexes: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Optimized for time queries.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76300" y="4096732"/>
            <a:ext cx="76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952500" y="4097684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API Request -&gt; Validation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28675" y="4466272"/>
            <a:ext cx="123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52500" y="446722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Logic -&gt; Availability check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838200" y="4835812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952500" y="483676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DB Update -&gt; MySQL Transaction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28675" y="5205352"/>
            <a:ext cx="123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952500" y="520630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Publish -&gt; Kafka Notification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28675" y="5574893"/>
            <a:ext cx="123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5.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952500" y="55758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Delivery -&gt; SMTP Email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Database &amp;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8827"/>
            <a:ext cx="3492400" cy="321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88827"/>
            <a:ext cx="3492549" cy="321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288827"/>
            <a:ext cx="3492400" cy="321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841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866775" y="3393727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Smart Reminders</a:t>
            </a:r>
            <a:endParaRPr/>
          </a:p>
        </p:txBody>
      </p:sp>
      <p:pic>
        <p:nvPicPr>
          <p:cNvPr descr="image.png" id="264" name="Google Shape;26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25841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4644925" y="3393727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Auto-Release</a:t>
            </a:r>
            <a:endParaRPr/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25841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8423225" y="3393727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Real-Time Logic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1057275" y="3946177"/>
            <a:ext cx="271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15-minute advance alerts.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1057275" y="4315717"/>
            <a:ext cx="271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Configurable intervals.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057275" y="4685258"/>
            <a:ext cx="271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Calendar integration.</a:t>
            </a:r>
            <a:endParaRPr/>
          </a:p>
        </p:txBody>
      </p:sp>
      <p:pic>
        <p:nvPicPr>
          <p:cNvPr descr="image.png" id="271" name="Google Shape;27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30663" y="275555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4835425" y="3946177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15-min grace period.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4835425" y="4315717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Resource optimization.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4835425" y="4685258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Real-time updates.</a:t>
            </a:r>
            <a:endParaRPr/>
          </a:p>
        </p:txBody>
      </p:sp>
      <p:pic>
        <p:nvPicPr>
          <p:cNvPr descr="image.png" id="275" name="Google Shape;275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08962" y="275555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8613725" y="3946177"/>
            <a:ext cx="271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Conflict detection.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613725" y="4315717"/>
            <a:ext cx="271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Capacity validation.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8613725" y="4685258"/>
            <a:ext cx="271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Slot optimization.</a:t>
            </a:r>
            <a:endParaRPr/>
          </a:p>
        </p:txBody>
      </p:sp>
      <p:pic>
        <p:nvPicPr>
          <p:cNvPr descr="image.png" id="279" name="Google Shape;279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2512" y="275555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Smart Business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Features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/>
          <p:nvPr/>
        </p:nvSpPr>
        <p:spPr>
          <a:xfrm>
            <a:off x="571500" y="381000"/>
            <a:ext cx="116016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Database &amp; </a:t>
            </a:r>
            <a:r>
              <a:rPr b="1" lang="en-US" sz="40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86" name="Google Shape;2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7500"/>
            <a:ext cx="5795192" cy="56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6584900" y="0"/>
            <a:ext cx="5588100" cy="6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Employee Makes Reservation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API Request to Room Service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JWT Auth Validated (Future)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ReservationController Validates Input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ReservationService Applies Business Logic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Room Availability Check</a:t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DB Transaction Insert (Serializable)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Kafka Events Published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Success Response Sent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Notification Service Consumes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↓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Email Notifications Sent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0344"/>
            <a:ext cx="5286375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0344"/>
            <a:ext cx="5286375" cy="3230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962025" y="2670869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Current Scalability</a:t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962025" y="3137594"/>
            <a:ext cx="45053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6724650" y="2670869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Planned Enhancements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6724650" y="3137594"/>
            <a:ext cx="45053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1152525" y="3490019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Horizontal: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Multiple instances.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1152525" y="3859559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Balancing: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Distributed requests.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152525" y="4229100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Clustering: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High-availability MySQL.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1152525" y="4598640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1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Partitioning: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Parallel processing.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6915150" y="3490019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Security (JWT/OAuth2)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915150" y="3859559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Real-time Analytics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915150" y="4229100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Mobile Integration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915150" y="4598640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Cloud Native (K8s)</a:t>
            </a:r>
            <a:endParaRPr/>
          </a:p>
        </p:txBody>
      </p:sp>
      <p:pic>
        <p:nvPicPr>
          <p:cNvPr descr="image.png" id="307" name="Google Shape;30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5150" y="353764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5150" y="3907184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5150" y="4276725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15150" y="4646265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571500" y="3810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Scalability &amp;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Future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